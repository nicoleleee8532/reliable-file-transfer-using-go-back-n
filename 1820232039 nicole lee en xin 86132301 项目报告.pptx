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Poppins Semi-Bold" charset="1" panose="00000700000000000000"/>
      <p:regular r:id="rId27"/>
    </p:embeddedFont>
    <p:embeddedFont>
      <p:font typeface="Poppins Ultra-Bold" charset="1" panose="00000900000000000000"/>
      <p:regular r:id="rId28"/>
    </p:embeddedFont>
    <p:embeddedFont>
      <p:font typeface="Poppins" charset="1" panose="00000500000000000000"/>
      <p:regular r:id="rId29"/>
    </p:embeddedFont>
    <p:embeddedFont>
      <p:font typeface="Rubik Light" charset="1" panose="00000400000000000000"/>
      <p:regular r:id="rId30"/>
    </p:embeddedFont>
    <p:embeddedFont>
      <p:font typeface="Open Sans Medium" charset="1" panose="00000000000000000000"/>
      <p:regular r:id="rId31"/>
    </p:embeddedFont>
    <p:embeddedFont>
      <p:font typeface="Poppins Medium" charset="1" panose="00000600000000000000"/>
      <p:regular r:id="rId32"/>
    </p:embeddedFont>
    <p:embeddedFont>
      <p:font typeface="Rubik" charset="1" panose="000000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150713" cy="10287000"/>
            <a:chOff x="0" y="0"/>
            <a:chExt cx="437060" cy="5516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060" cy="551613"/>
            </a:xfrm>
            <a:custGeom>
              <a:avLst/>
              <a:gdLst/>
              <a:ahLst/>
              <a:cxnLst/>
              <a:rect r="r" b="b" t="t" l="l"/>
              <a:pathLst>
                <a:path h="551613" w="437060">
                  <a:moveTo>
                    <a:pt x="0" y="0"/>
                  </a:moveTo>
                  <a:lnTo>
                    <a:pt x="437060" y="0"/>
                  </a:lnTo>
                  <a:lnTo>
                    <a:pt x="437060" y="551613"/>
                  </a:lnTo>
                  <a:lnTo>
                    <a:pt x="0" y="551613"/>
                  </a:lnTo>
                  <a:close/>
                </a:path>
              </a:pathLst>
            </a:custGeom>
            <a:solidFill>
              <a:srgbClr val="32184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150713" cy="10287000"/>
            <a:chOff x="0" y="0"/>
            <a:chExt cx="437060" cy="551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7060" cy="551613"/>
            </a:xfrm>
            <a:custGeom>
              <a:avLst/>
              <a:gdLst/>
              <a:ahLst/>
              <a:cxnLst/>
              <a:rect r="r" b="b" t="t" l="l"/>
              <a:pathLst>
                <a:path h="551613" w="437060">
                  <a:moveTo>
                    <a:pt x="0" y="0"/>
                  </a:moveTo>
                  <a:lnTo>
                    <a:pt x="437060" y="0"/>
                  </a:lnTo>
                  <a:lnTo>
                    <a:pt x="437060" y="551613"/>
                  </a:lnTo>
                  <a:lnTo>
                    <a:pt x="0" y="551613"/>
                  </a:lnTo>
                  <a:close/>
                </a:path>
              </a:pathLst>
            </a:custGeom>
            <a:blipFill>
              <a:blip r:embed="rId2">
                <a:alphaModFix amt="40000"/>
              </a:blip>
              <a:stretch>
                <a:fillRect l="-1036" t="0" r="-103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895176" y="3353401"/>
            <a:ext cx="497648" cy="49764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643570" y="3841524"/>
            <a:ext cx="8615730" cy="1954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482"/>
              </a:lnSpc>
            </a:pPr>
            <a:r>
              <a:rPr lang="en-US" b="true" sz="6621" spc="13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RELIABLE FILE TRANSFER SYSTEM </a:t>
            </a:r>
          </a:p>
        </p:txBody>
      </p:sp>
      <p:sp>
        <p:nvSpPr>
          <p:cNvPr name="TextBox 10" id="10"/>
          <p:cNvSpPr txBox="true"/>
          <p:nvPr/>
        </p:nvSpPr>
        <p:spPr>
          <a:xfrm rot="5400000">
            <a:off x="-2763026" y="4166328"/>
            <a:ext cx="8725685" cy="1954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82"/>
              </a:lnSpc>
            </a:pPr>
            <a:r>
              <a:rPr lang="en-US" b="true" sz="6621" spc="132">
                <a:solidFill>
                  <a:srgbClr val="CB5EFF">
                    <a:alpha val="47843"/>
                  </a:srgbClr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GO-BACK-N PROTOCOL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99619" y="5776817"/>
            <a:ext cx="8759681" cy="1276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831"/>
              </a:lnSpc>
            </a:pPr>
            <a:r>
              <a:rPr lang="en-US" sz="4275" spc="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COMPUTER NETWORKS COURSE 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71477" y="1751713"/>
            <a:ext cx="3587823" cy="60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418"/>
              </a:lnSpc>
            </a:pPr>
            <a:r>
              <a:rPr lang="en-US" sz="1727" spc="177">
                <a:solidFill>
                  <a:srgbClr val="E2E2E2"/>
                </a:solidFill>
                <a:latin typeface="Rubik Light"/>
                <a:ea typeface="Rubik Light"/>
                <a:cs typeface="Rubik Light"/>
                <a:sym typeface="Rubik Light"/>
              </a:rPr>
              <a:t>李恩心 | 1820232039 | 阮思捷老师 | 2026年5月16日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66738" y="1028700"/>
            <a:ext cx="6675228" cy="6462370"/>
            <a:chOff x="0" y="0"/>
            <a:chExt cx="6496901" cy="62897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110" y="9742"/>
              <a:ext cx="6459397" cy="6273348"/>
            </a:xfrm>
            <a:custGeom>
              <a:avLst/>
              <a:gdLst/>
              <a:ahLst/>
              <a:cxnLst/>
              <a:rect r="r" b="b" t="t" l="l"/>
              <a:pathLst>
                <a:path h="6273348" w="6459397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105986" y="746344"/>
            <a:ext cx="6559091" cy="6349937"/>
            <a:chOff x="0" y="0"/>
            <a:chExt cx="6496901" cy="62897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110" y="9742"/>
              <a:ext cx="6459397" cy="6273348"/>
            </a:xfrm>
            <a:custGeom>
              <a:avLst/>
              <a:gdLst/>
              <a:ahLst/>
              <a:cxnLst/>
              <a:rect r="r" b="b" t="t" l="l"/>
              <a:pathLst>
                <a:path h="6273348" w="6459397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blipFill>
              <a:blip r:embed="rId2"/>
              <a:stretch>
                <a:fillRect l="0" t="-1482" r="0" b="-148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66921" y="4684024"/>
            <a:ext cx="537073" cy="53707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665077" y="1178500"/>
            <a:ext cx="537073" cy="53707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63098" y="5403224"/>
            <a:ext cx="6476937" cy="104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Implement reliable bidirectional file transfer over UDP based on the </a:t>
            </a: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Go-Back-N protocol, ensuring reliability in the presence of packet loss and data corruption.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3098" y="8093117"/>
            <a:ext cx="6476937" cy="139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Go-Back-N uses a sliding window approach, allowing the sender to continuously transmit multiple data packets, ensuring transmission reliability through cumulative acknowledgments and timeout retransmission.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3098" y="4558730"/>
            <a:ext cx="4628846" cy="55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8"/>
              </a:lnSpc>
            </a:pPr>
            <a:r>
              <a:rPr lang="en-US" sz="3092">
                <a:solidFill>
                  <a:srgbClr val="CB5EFF"/>
                </a:solidFill>
                <a:latin typeface="Poppins"/>
                <a:ea typeface="Poppins"/>
                <a:cs typeface="Poppins"/>
                <a:sym typeface="Poppins"/>
              </a:rPr>
              <a:t>Project Objectives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3098" y="7248623"/>
            <a:ext cx="7897914" cy="110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8"/>
              </a:lnSpc>
            </a:pPr>
            <a:r>
              <a:rPr lang="en-US" sz="3092" b="true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Sliding Window Mechanism</a:t>
            </a:r>
          </a:p>
          <a:p>
            <a:pPr algn="l" marL="0" indent="0" lvl="0">
              <a:lnSpc>
                <a:spcPts val="4328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63098" y="1207075"/>
            <a:ext cx="7897914" cy="2365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1"/>
              </a:lnSpc>
              <a:spcBef>
                <a:spcPct val="0"/>
              </a:spcBef>
            </a:pPr>
            <a:r>
              <a:rPr lang="en-US" b="true" sz="7956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 Overview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3098" y="2415650"/>
            <a:ext cx="7897914" cy="122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568268"/>
            <a:ext cx="537073" cy="5370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34439" y="670002"/>
            <a:ext cx="537073" cy="5370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495707" y="4458824"/>
            <a:ext cx="6476937" cy="69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13"/>
              </a:lnSpc>
            </a:pPr>
            <a:r>
              <a:rPr lang="en-US" b="true" sz="188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Window size (SWSize) controls how many unacknowledged packets can be in flight simultaneously.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95707" y="3772036"/>
            <a:ext cx="7034974" cy="48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9"/>
              </a:lnSpc>
            </a:pPr>
            <a:r>
              <a:rPr lang="en-US" b="true" sz="2692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Sliding Window Mechanism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95707" y="6246730"/>
            <a:ext cx="6476937" cy="69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13"/>
              </a:lnSpc>
            </a:pPr>
            <a:r>
              <a:rPr lang="en-US" b="true" sz="188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Sender transmits multiple packets without waiting for individual ACKs; receiver sends cumulative ACKs.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95707" y="5554610"/>
            <a:ext cx="7801704" cy="48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9"/>
              </a:lnSpc>
            </a:pPr>
            <a:r>
              <a:rPr lang="en-US" b="true" sz="2692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Cumulative Acknowledgments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95707" y="8030883"/>
            <a:ext cx="7034974" cy="69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13"/>
              </a:lnSpc>
            </a:pPr>
            <a:r>
              <a:rPr lang="en-US" b="true" sz="188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When timeout expires, sender retransmits all unacknowledged packets from the window starting point.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95707" y="7338764"/>
            <a:ext cx="6215275" cy="48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9"/>
              </a:lnSpc>
            </a:pPr>
            <a:r>
              <a:rPr lang="en-US" b="true" sz="2692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Timeout &amp; Retransmission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95707" y="1197550"/>
            <a:ext cx="8725493" cy="971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59"/>
              </a:lnSpc>
              <a:spcBef>
                <a:spcPct val="0"/>
              </a:spcBef>
            </a:pPr>
            <a:r>
              <a:rPr lang="en-US" b="true" sz="633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Go-Back-N Protocol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95707" y="2159873"/>
            <a:ext cx="6288678" cy="971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59"/>
              </a:lnSpc>
              <a:spcBef>
                <a:spcPct val="0"/>
              </a:spcBef>
            </a:pPr>
            <a:r>
              <a:rPr lang="en-US" b="true" sz="6335">
                <a:solidFill>
                  <a:srgbClr val="CB5E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Fundamentals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89308" y="9211866"/>
            <a:ext cx="2765740" cy="365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62"/>
              </a:lnSpc>
            </a:pPr>
            <a:r>
              <a:rPr lang="en-US" sz="2116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3/20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97237" y="2373716"/>
            <a:ext cx="5539568" cy="5539568"/>
          </a:xfrm>
          <a:custGeom>
            <a:avLst/>
            <a:gdLst/>
            <a:ahLst/>
            <a:cxnLst/>
            <a:rect r="r" b="b" t="t" l="l"/>
            <a:pathLst>
              <a:path h="5539568" w="5539568">
                <a:moveTo>
                  <a:pt x="0" y="0"/>
                </a:moveTo>
                <a:lnTo>
                  <a:pt x="5539568" y="0"/>
                </a:lnTo>
                <a:lnTo>
                  <a:pt x="5539568" y="5539568"/>
                </a:lnTo>
                <a:lnTo>
                  <a:pt x="0" y="5539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568268"/>
            <a:ext cx="537073" cy="5370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34439" y="670002"/>
            <a:ext cx="537073" cy="5370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5120" y="1699666"/>
            <a:ext cx="6561082" cy="5939915"/>
            <a:chOff x="0" y="0"/>
            <a:chExt cx="5580380" cy="5052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705" y="-225"/>
              <a:ext cx="5580557" cy="5052325"/>
            </a:xfrm>
            <a:custGeom>
              <a:avLst/>
              <a:gdLst/>
              <a:ahLst/>
              <a:cxnLst/>
              <a:rect r="r" b="b" t="t" l="l"/>
              <a:pathLst>
                <a:path h="5052325" w="5580557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99632" y="1802489"/>
            <a:ext cx="6584458" cy="5961078"/>
            <a:chOff x="0" y="0"/>
            <a:chExt cx="5580380" cy="50520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705" y="-225"/>
              <a:ext cx="5580557" cy="5052325"/>
            </a:xfrm>
            <a:custGeom>
              <a:avLst/>
              <a:gdLst/>
              <a:ahLst/>
              <a:cxnLst/>
              <a:rect r="r" b="b" t="t" l="l"/>
              <a:pathLst>
                <a:path h="5052325" w="5580557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blipFill>
              <a:blip r:embed="rId2"/>
              <a:stretch>
                <a:fillRect l="0" t="-5227" r="0" b="-5227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872999" y="5384091"/>
            <a:ext cx="6476937" cy="104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SeqNum (4 bytes): sequence number</a:t>
            </a:r>
          </a:p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AckNum (4 bytes): cumulative ACK number</a:t>
            </a:r>
          </a:p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Flags (1 byte): 0 = DATA, 1 = FIN (finish)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72999" y="7721261"/>
            <a:ext cx="6476937" cy="69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Data payload: ≤4KB (file chunk)</a:t>
            </a:r>
          </a:p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Checksum (2 bytes): CRC-CCITT for error detection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72999" y="4539680"/>
            <a:ext cx="4628846" cy="55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8"/>
              </a:lnSpc>
            </a:pPr>
            <a:r>
              <a:rPr lang="en-US" b="true" sz="3092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Header Fields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72999" y="6876850"/>
            <a:ext cx="4628846" cy="55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8"/>
              </a:lnSpc>
            </a:pPr>
            <a:r>
              <a:rPr lang="en-US" b="true" sz="3092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Payload &amp; Checksum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72999" y="1178500"/>
            <a:ext cx="8386301" cy="110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8"/>
              </a:lnSpc>
              <a:spcBef>
                <a:spcPct val="0"/>
              </a:spcBef>
            </a:pPr>
            <a:r>
              <a:rPr lang="en-US" b="true" sz="7087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PDU Frame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72999" y="2255024"/>
            <a:ext cx="7034974" cy="110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8"/>
              </a:lnSpc>
              <a:spcBef>
                <a:spcPct val="0"/>
              </a:spcBef>
            </a:pPr>
            <a:r>
              <a:rPr lang="en-US" b="true" sz="7087">
                <a:solidFill>
                  <a:srgbClr val="CB5E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Structure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89308" y="9211866"/>
            <a:ext cx="2765740" cy="365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8"/>
              </a:lnSpc>
            </a:pPr>
            <a:r>
              <a:rPr lang="en-US" sz="212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李恩心 | 1820232039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66738" y="1028700"/>
            <a:ext cx="6675228" cy="6462370"/>
            <a:chOff x="0" y="0"/>
            <a:chExt cx="6496901" cy="62897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110" y="9742"/>
              <a:ext cx="6459397" cy="6273348"/>
            </a:xfrm>
            <a:custGeom>
              <a:avLst/>
              <a:gdLst/>
              <a:ahLst/>
              <a:cxnLst/>
              <a:rect r="r" b="b" t="t" l="l"/>
              <a:pathLst>
                <a:path h="6273348" w="6459397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105986" y="746344"/>
            <a:ext cx="6559091" cy="6349937"/>
            <a:chOff x="0" y="0"/>
            <a:chExt cx="6496901" cy="62897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110" y="9742"/>
              <a:ext cx="6459397" cy="6273348"/>
            </a:xfrm>
            <a:custGeom>
              <a:avLst/>
              <a:gdLst/>
              <a:ahLst/>
              <a:cxnLst/>
              <a:rect r="r" b="b" t="t" l="l"/>
              <a:pathLst>
                <a:path h="6273348" w="6459397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blipFill>
              <a:blip r:embed="rId2"/>
              <a:stretch>
                <a:fillRect l="0" t="-1482" r="0" b="-148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66921" y="4684024"/>
            <a:ext cx="537073" cy="53707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665077" y="1178500"/>
            <a:ext cx="537073" cy="53707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63098" y="5403224"/>
            <a:ext cx="6476937" cy="104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Reads file and splits into chunks, sends packets within sliding window, handles timeout-triggered retransmission of unACKed packets.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3098" y="8093117"/>
            <a:ext cx="6476937" cy="104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Receives packets, validates sequence number and CRC checksum, accepts in-order packets only, sends cumulative ACKs, writes to output file.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3098" y="4558730"/>
            <a:ext cx="4628846" cy="55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8"/>
              </a:lnSpc>
            </a:pPr>
            <a:r>
              <a:rPr lang="en-US" b="true" sz="3092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Sender Workflow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3098" y="7248623"/>
            <a:ext cx="4628846" cy="55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8"/>
              </a:lnSpc>
            </a:pPr>
            <a:r>
              <a:rPr lang="en-US" b="true" sz="3092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Receiver Workflow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3098" y="1207075"/>
            <a:ext cx="7897914" cy="122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1"/>
              </a:lnSpc>
              <a:spcBef>
                <a:spcPct val="0"/>
              </a:spcBef>
            </a:pPr>
            <a:r>
              <a:rPr lang="en-US" b="true" sz="7956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System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3098" y="2415650"/>
            <a:ext cx="7897914" cy="122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1"/>
              </a:lnSpc>
              <a:spcBef>
                <a:spcPct val="0"/>
              </a:spcBef>
            </a:pPr>
            <a:r>
              <a:rPr lang="en-US" b="true" sz="7956">
                <a:solidFill>
                  <a:srgbClr val="CB5E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Architecture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568268"/>
            <a:ext cx="537073" cy="5370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34439" y="670002"/>
            <a:ext cx="537073" cy="5370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5120" y="1699666"/>
            <a:ext cx="6561082" cy="5939915"/>
            <a:chOff x="0" y="0"/>
            <a:chExt cx="5580380" cy="5052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705" y="-225"/>
              <a:ext cx="5580557" cy="5052325"/>
            </a:xfrm>
            <a:custGeom>
              <a:avLst/>
              <a:gdLst/>
              <a:ahLst/>
              <a:cxnLst/>
              <a:rect r="r" b="b" t="t" l="l"/>
              <a:pathLst>
                <a:path h="5052325" w="5580557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99632" y="1802489"/>
            <a:ext cx="6584458" cy="5961078"/>
            <a:chOff x="0" y="0"/>
            <a:chExt cx="5580380" cy="50520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705" y="-225"/>
              <a:ext cx="5580557" cy="5052325"/>
            </a:xfrm>
            <a:custGeom>
              <a:avLst/>
              <a:gdLst/>
              <a:ahLst/>
              <a:cxnLst/>
              <a:rect r="r" b="b" t="t" l="l"/>
              <a:pathLst>
                <a:path h="5052325" w="5580557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blipFill>
              <a:blip r:embed="rId2"/>
              <a:stretch>
                <a:fillRect l="0" t="-5227" r="0" b="-5227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495707" y="4458824"/>
            <a:ext cx="6476937" cy="69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UDPPort: 42039, DataSize: 1024 bytes per packet, SWSize (sliding window): 8 packets.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95707" y="3772036"/>
            <a:ext cx="7034974" cy="48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9"/>
              </a:lnSpc>
            </a:pPr>
            <a:r>
              <a:rPr lang="en-US" b="true" sz="2692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Network &amp; Data Settings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95707" y="6246730"/>
            <a:ext cx="6476937" cy="69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Timeout: 1000ms, ErrorRate and LostRate parameters for packet corruption and loss simulation.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95707" y="5554610"/>
            <a:ext cx="7801704" cy="48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9"/>
              </a:lnSpc>
            </a:pPr>
            <a:r>
              <a:rPr lang="en-US" b="true" sz="2692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Timing &amp; Simulation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95707" y="8030883"/>
            <a:ext cx="7034974" cy="69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InitSeqNo: 0 (initial sequence number for packet ordering and tracking).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95707" y="7338764"/>
            <a:ext cx="6215275" cy="48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9"/>
              </a:lnSpc>
            </a:pPr>
            <a:r>
              <a:rPr lang="en-US" b="true" sz="2692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Sequence Configuration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95707" y="1197550"/>
            <a:ext cx="8725493" cy="971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59"/>
              </a:lnSpc>
              <a:spcBef>
                <a:spcPct val="0"/>
              </a:spcBef>
            </a:pPr>
            <a:r>
              <a:rPr lang="en-US" b="true" sz="633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Configuration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95707" y="2159873"/>
            <a:ext cx="6288678" cy="971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59"/>
              </a:lnSpc>
              <a:spcBef>
                <a:spcPct val="0"/>
              </a:spcBef>
            </a:pPr>
            <a:r>
              <a:rPr lang="en-US" b="true" sz="6335">
                <a:solidFill>
                  <a:srgbClr val="CB5E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Parameters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66738" y="1028700"/>
            <a:ext cx="6675228" cy="6462370"/>
            <a:chOff x="0" y="0"/>
            <a:chExt cx="6496901" cy="62897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110" y="9742"/>
              <a:ext cx="6459397" cy="6273348"/>
            </a:xfrm>
            <a:custGeom>
              <a:avLst/>
              <a:gdLst/>
              <a:ahLst/>
              <a:cxnLst/>
              <a:rect r="r" b="b" t="t" l="l"/>
              <a:pathLst>
                <a:path h="6273348" w="6459397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105986" y="746344"/>
            <a:ext cx="6559091" cy="6349937"/>
            <a:chOff x="0" y="0"/>
            <a:chExt cx="6496901" cy="62897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110" y="9742"/>
              <a:ext cx="6459397" cy="6273348"/>
            </a:xfrm>
            <a:custGeom>
              <a:avLst/>
              <a:gdLst/>
              <a:ahLst/>
              <a:cxnLst/>
              <a:rect r="r" b="b" t="t" l="l"/>
              <a:pathLst>
                <a:path h="6273348" w="6459397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blipFill>
              <a:blip r:embed="rId2"/>
              <a:stretch>
                <a:fillRect l="0" t="-1482" r="0" b="-148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66921" y="4684024"/>
            <a:ext cx="537073" cy="53707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665077" y="1178500"/>
            <a:ext cx="537073" cy="53707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63098" y="5403224"/>
            <a:ext cx="6476937" cy="104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Randomly drops 1 in N packets based on LostRate parameter, causing sender timeout and triggering Go-Back-N retransmission.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3098" y="8093117"/>
            <a:ext cx="6476937" cy="104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Randomly flips bits in 1 in N packets based on ErrorRate parameter, detected by CRC-CCITT checksum validation at receiver.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3098" y="4701170"/>
            <a:ext cx="4628846" cy="44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4"/>
              </a:lnSpc>
            </a:pPr>
            <a:r>
              <a:rPr lang="en-US" b="true" sz="2460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Packet Loss Simulation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3098" y="7267673"/>
            <a:ext cx="4628846" cy="44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44"/>
              </a:lnSpc>
            </a:pPr>
            <a:r>
              <a:rPr lang="en-US" b="true" sz="2460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Packet Corruption Simulation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3098" y="1207075"/>
            <a:ext cx="7897914" cy="2365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1"/>
              </a:lnSpc>
              <a:spcBef>
                <a:spcPct val="0"/>
              </a:spcBef>
            </a:pPr>
            <a:r>
              <a:rPr lang="en-US" b="true" sz="7956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Error Simulation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6086" y="3298000"/>
            <a:ext cx="7897914" cy="122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1"/>
              </a:lnSpc>
              <a:spcBef>
                <a:spcPct val="0"/>
              </a:spcBef>
            </a:pPr>
            <a:r>
              <a:rPr lang="en-US" b="true" sz="7956">
                <a:solidFill>
                  <a:srgbClr val="CB5E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Approach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79269" y="2901342"/>
            <a:ext cx="6110626" cy="6356958"/>
          </a:xfrm>
          <a:custGeom>
            <a:avLst/>
            <a:gdLst/>
            <a:ahLst/>
            <a:cxnLst/>
            <a:rect r="r" b="b" t="t" l="l"/>
            <a:pathLst>
              <a:path h="6356958" w="6110626">
                <a:moveTo>
                  <a:pt x="0" y="0"/>
                </a:moveTo>
                <a:lnTo>
                  <a:pt x="6110626" y="0"/>
                </a:lnTo>
                <a:lnTo>
                  <a:pt x="611062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03936" y="1088348"/>
            <a:ext cx="4401561" cy="8169952"/>
          </a:xfrm>
          <a:custGeom>
            <a:avLst/>
            <a:gdLst/>
            <a:ahLst/>
            <a:cxnLst/>
            <a:rect r="r" b="b" t="t" l="l"/>
            <a:pathLst>
              <a:path h="8169952" w="4401561">
                <a:moveTo>
                  <a:pt x="0" y="0"/>
                </a:moveTo>
                <a:lnTo>
                  <a:pt x="4401561" y="0"/>
                </a:lnTo>
                <a:lnTo>
                  <a:pt x="4401561" y="8169952"/>
                </a:lnTo>
                <a:lnTo>
                  <a:pt x="0" y="8169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63098" y="1207075"/>
            <a:ext cx="7897914" cy="122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1"/>
              </a:lnSpc>
              <a:spcBef>
                <a:spcPct val="0"/>
              </a:spcBef>
            </a:pPr>
            <a:r>
              <a:rPr lang="en-US" b="true" sz="7956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Code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60536" y="4636251"/>
            <a:ext cx="537073" cy="5370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990763" y="1226125"/>
            <a:ext cx="537073" cy="53707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568268"/>
            <a:ext cx="537073" cy="5370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34439" y="670002"/>
            <a:ext cx="537073" cy="5370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5120" y="1699666"/>
            <a:ext cx="6561082" cy="5939915"/>
            <a:chOff x="0" y="0"/>
            <a:chExt cx="5580380" cy="5052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705" y="-225"/>
              <a:ext cx="5580557" cy="5052325"/>
            </a:xfrm>
            <a:custGeom>
              <a:avLst/>
              <a:gdLst/>
              <a:ahLst/>
              <a:cxnLst/>
              <a:rect r="r" b="b" t="t" l="l"/>
              <a:pathLst>
                <a:path h="5052325" w="5580557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99632" y="1802489"/>
            <a:ext cx="6584458" cy="5961078"/>
            <a:chOff x="0" y="0"/>
            <a:chExt cx="5580380" cy="50520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705" y="-225"/>
              <a:ext cx="5580557" cy="5052325"/>
            </a:xfrm>
            <a:custGeom>
              <a:avLst/>
              <a:gdLst/>
              <a:ahLst/>
              <a:cxnLst/>
              <a:rect r="r" b="b" t="t" l="l"/>
              <a:pathLst>
                <a:path h="5052325" w="5580557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blipFill>
              <a:blip r:embed="rId2"/>
              <a:stretch>
                <a:fillRect l="0" t="-5227" r="0" b="-5227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495707" y="4458824"/>
            <a:ext cx="6476937" cy="69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File size: 3 MB (3,145,728 bytes), Packet size: 1,024 bytes → Total 3,072 packets transmitted.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95707" y="3772036"/>
            <a:ext cx="7034974" cy="48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9"/>
              </a:lnSpc>
            </a:pPr>
            <a:r>
              <a:rPr lang="en-US" b="true" sz="2692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Test File Configuration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95707" y="6246730"/>
            <a:ext cx="6476937" cy="69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Localhost simulation for controlled testing conditions with configurable error and loss rates.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95707" y="5554610"/>
            <a:ext cx="7801704" cy="48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9"/>
              </a:lnSpc>
            </a:pPr>
            <a:r>
              <a:rPr lang="en-US" b="true" sz="2692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Network Environment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95707" y="8030883"/>
            <a:ext cx="7034974" cy="69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Throughput (KB/s), retransmission count, transfer efficiency (%), and total transfer time (seconds).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95707" y="7338764"/>
            <a:ext cx="6215275" cy="48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9"/>
              </a:lnSpc>
            </a:pPr>
            <a:r>
              <a:rPr lang="en-US" b="true" sz="2692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Key Performance Metrics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95707" y="1197550"/>
            <a:ext cx="8725493" cy="971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59"/>
              </a:lnSpc>
              <a:spcBef>
                <a:spcPct val="0"/>
              </a:spcBef>
            </a:pPr>
            <a:r>
              <a:rPr lang="en-US" b="true" sz="633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Performance Setup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95707" y="2159873"/>
            <a:ext cx="6288678" cy="971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59"/>
              </a:lnSpc>
              <a:spcBef>
                <a:spcPct val="0"/>
              </a:spcBef>
            </a:pPr>
            <a:r>
              <a:rPr lang="en-US" b="true" sz="6335">
                <a:solidFill>
                  <a:srgbClr val="CB5E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and Metrics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66921" y="4684024"/>
            <a:ext cx="537073" cy="5370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65077" y="1178500"/>
            <a:ext cx="537073" cy="5370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63098" y="4885886"/>
            <a:ext cx="6553058" cy="862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2"/>
              </a:lnSpc>
            </a:pPr>
            <a:r>
              <a:rPr lang="en-US" b="true" sz="237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Throughput improves significantly as sliding window size increases from 2 to 32 packets.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3098" y="6782821"/>
            <a:ext cx="6553058" cy="130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2"/>
              </a:lnSpc>
            </a:pPr>
            <a:r>
              <a:rPr lang="en-US" b="true" sz="237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Diminishing returns observed beyond window size 16, indicating optimal configuration range.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3098" y="1207075"/>
            <a:ext cx="7897914" cy="838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84"/>
              </a:lnSpc>
              <a:spcBef>
                <a:spcPct val="0"/>
              </a:spcBef>
            </a:pPr>
            <a:r>
              <a:rPr lang="en-US" b="true" sz="5384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Impact of Window Size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3098" y="2415650"/>
            <a:ext cx="7897914" cy="838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84"/>
              </a:lnSpc>
              <a:spcBef>
                <a:spcPct val="0"/>
              </a:spcBef>
            </a:pPr>
            <a:r>
              <a:rPr lang="en-US" b="true" sz="5384">
                <a:solidFill>
                  <a:srgbClr val="CB5E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on Throughput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285056" y="9084784"/>
            <a:ext cx="2974244" cy="666790"/>
            <a:chOff x="0" y="0"/>
            <a:chExt cx="783340" cy="1756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3340" cy="175616"/>
            </a:xfrm>
            <a:custGeom>
              <a:avLst/>
              <a:gdLst/>
              <a:ahLst/>
              <a:cxnLst/>
              <a:rect r="r" b="b" t="t" l="l"/>
              <a:pathLst>
                <a:path h="175616" w="783340">
                  <a:moveTo>
                    <a:pt x="87808" y="0"/>
                  </a:moveTo>
                  <a:lnTo>
                    <a:pt x="695532" y="0"/>
                  </a:lnTo>
                  <a:cubicBezTo>
                    <a:pt x="718820" y="0"/>
                    <a:pt x="741154" y="9251"/>
                    <a:pt x="757622" y="25718"/>
                  </a:cubicBezTo>
                  <a:cubicBezTo>
                    <a:pt x="774089" y="42185"/>
                    <a:pt x="783340" y="64520"/>
                    <a:pt x="783340" y="87808"/>
                  </a:cubicBezTo>
                  <a:lnTo>
                    <a:pt x="783340" y="87808"/>
                  </a:lnTo>
                  <a:cubicBezTo>
                    <a:pt x="783340" y="136303"/>
                    <a:pt x="744027" y="175616"/>
                    <a:pt x="695532" y="175616"/>
                  </a:cubicBezTo>
                  <a:lnTo>
                    <a:pt x="87808" y="175616"/>
                  </a:lnTo>
                  <a:cubicBezTo>
                    <a:pt x="64520" y="175616"/>
                    <a:pt x="42185" y="166364"/>
                    <a:pt x="25718" y="149897"/>
                  </a:cubicBezTo>
                  <a:cubicBezTo>
                    <a:pt x="9251" y="133430"/>
                    <a:pt x="0" y="111096"/>
                    <a:pt x="0" y="87808"/>
                  </a:cubicBezTo>
                  <a:lnTo>
                    <a:pt x="0" y="87808"/>
                  </a:lnTo>
                  <a:cubicBezTo>
                    <a:pt x="0" y="64520"/>
                    <a:pt x="9251" y="42185"/>
                    <a:pt x="25718" y="25718"/>
                  </a:cubicBezTo>
                  <a:cubicBezTo>
                    <a:pt x="42185" y="9251"/>
                    <a:pt x="64520" y="0"/>
                    <a:pt x="87808" y="0"/>
                  </a:cubicBezTo>
                  <a:close/>
                </a:path>
              </a:pathLst>
            </a:custGeom>
            <a:solidFill>
              <a:srgbClr val="CB5E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783340" cy="251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389308" y="9211866"/>
            <a:ext cx="2765740" cy="365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8"/>
              </a:lnSpc>
            </a:pPr>
            <a:r>
              <a:rPr lang="en-US" sz="212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9/20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144000" y="2642104"/>
            <a:ext cx="8336141" cy="5157987"/>
          </a:xfrm>
          <a:custGeom>
            <a:avLst/>
            <a:gdLst/>
            <a:ahLst/>
            <a:cxnLst/>
            <a:rect r="r" b="b" t="t" l="l"/>
            <a:pathLst>
              <a:path h="5157987" w="8336141">
                <a:moveTo>
                  <a:pt x="0" y="0"/>
                </a:moveTo>
                <a:lnTo>
                  <a:pt x="8336141" y="0"/>
                </a:lnTo>
                <a:lnTo>
                  <a:pt x="8336141" y="5157987"/>
                </a:lnTo>
                <a:lnTo>
                  <a:pt x="0" y="5157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66921" y="4684024"/>
            <a:ext cx="537073" cy="5370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65077" y="1178500"/>
            <a:ext cx="537073" cy="5370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63098" y="4885886"/>
            <a:ext cx="6553058" cy="127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0"/>
              </a:lnSpc>
            </a:pPr>
            <a:r>
              <a:rPr lang="en-US" b="true" sz="2315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As packet error rates increase from 0% to 20%, throughput degrades significantly due to CRC checksum failures triggering retransmissions.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3098" y="6782821"/>
            <a:ext cx="6553058" cy="127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0"/>
              </a:lnSpc>
            </a:pPr>
            <a:r>
              <a:rPr lang="en-US" b="true" sz="2315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Efficiency decreases from 100% to approximately 70% at 20% error rate, demonstrating protocol resilience.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3098" y="1207075"/>
            <a:ext cx="7897914" cy="94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37"/>
              </a:lnSpc>
              <a:spcBef>
                <a:spcPct val="0"/>
              </a:spcBef>
            </a:pPr>
            <a:r>
              <a:rPr lang="en-US" b="true" sz="613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Impact of Error Rate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3098" y="2415650"/>
            <a:ext cx="7897914" cy="94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37"/>
              </a:lnSpc>
              <a:spcBef>
                <a:spcPct val="0"/>
              </a:spcBef>
            </a:pPr>
            <a:r>
              <a:rPr lang="en-US" b="true" sz="6139">
                <a:solidFill>
                  <a:srgbClr val="CB5E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on Performance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285056" y="9084784"/>
            <a:ext cx="2974244" cy="666790"/>
            <a:chOff x="0" y="0"/>
            <a:chExt cx="783340" cy="1756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3340" cy="175616"/>
            </a:xfrm>
            <a:custGeom>
              <a:avLst/>
              <a:gdLst/>
              <a:ahLst/>
              <a:cxnLst/>
              <a:rect r="r" b="b" t="t" l="l"/>
              <a:pathLst>
                <a:path h="175616" w="783340">
                  <a:moveTo>
                    <a:pt x="87808" y="0"/>
                  </a:moveTo>
                  <a:lnTo>
                    <a:pt x="695532" y="0"/>
                  </a:lnTo>
                  <a:cubicBezTo>
                    <a:pt x="718820" y="0"/>
                    <a:pt x="741154" y="9251"/>
                    <a:pt x="757622" y="25718"/>
                  </a:cubicBezTo>
                  <a:cubicBezTo>
                    <a:pt x="774089" y="42185"/>
                    <a:pt x="783340" y="64520"/>
                    <a:pt x="783340" y="87808"/>
                  </a:cubicBezTo>
                  <a:lnTo>
                    <a:pt x="783340" y="87808"/>
                  </a:lnTo>
                  <a:cubicBezTo>
                    <a:pt x="783340" y="136303"/>
                    <a:pt x="744027" y="175616"/>
                    <a:pt x="695532" y="175616"/>
                  </a:cubicBezTo>
                  <a:lnTo>
                    <a:pt x="87808" y="175616"/>
                  </a:lnTo>
                  <a:cubicBezTo>
                    <a:pt x="64520" y="175616"/>
                    <a:pt x="42185" y="166364"/>
                    <a:pt x="25718" y="149897"/>
                  </a:cubicBezTo>
                  <a:cubicBezTo>
                    <a:pt x="9251" y="133430"/>
                    <a:pt x="0" y="111096"/>
                    <a:pt x="0" y="87808"/>
                  </a:cubicBezTo>
                  <a:lnTo>
                    <a:pt x="0" y="87808"/>
                  </a:lnTo>
                  <a:cubicBezTo>
                    <a:pt x="0" y="64520"/>
                    <a:pt x="9251" y="42185"/>
                    <a:pt x="25718" y="25718"/>
                  </a:cubicBezTo>
                  <a:cubicBezTo>
                    <a:pt x="42185" y="9251"/>
                    <a:pt x="64520" y="0"/>
                    <a:pt x="87808" y="0"/>
                  </a:cubicBezTo>
                  <a:close/>
                </a:path>
              </a:pathLst>
            </a:custGeom>
            <a:solidFill>
              <a:srgbClr val="CB5E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783340" cy="251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389308" y="9211866"/>
            <a:ext cx="2765740" cy="356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00"/>
              </a:lnSpc>
            </a:pPr>
            <a:r>
              <a:rPr lang="en-US" sz="207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10 / 20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492337" y="2508818"/>
            <a:ext cx="8766963" cy="5424558"/>
          </a:xfrm>
          <a:custGeom>
            <a:avLst/>
            <a:gdLst/>
            <a:ahLst/>
            <a:cxnLst/>
            <a:rect r="r" b="b" t="t" l="l"/>
            <a:pathLst>
              <a:path h="5424558" w="8766963">
                <a:moveTo>
                  <a:pt x="0" y="0"/>
                </a:moveTo>
                <a:lnTo>
                  <a:pt x="8766963" y="0"/>
                </a:lnTo>
                <a:lnTo>
                  <a:pt x="8766963" y="5424558"/>
                </a:lnTo>
                <a:lnTo>
                  <a:pt x="0" y="5424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806" y="4684024"/>
            <a:ext cx="537073" cy="5370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65077" y="1178500"/>
            <a:ext cx="537073" cy="5370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63098" y="4895411"/>
            <a:ext cx="6553058" cy="1295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7"/>
              </a:lnSpc>
            </a:pPr>
            <a:r>
              <a:rPr lang="en-US" b="true" sz="234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Throughput declines sharply as packet loss rate increases from 0% to 20%, demonstrating Go-Back-N's sensitivity to lost packets.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3098" y="6792346"/>
            <a:ext cx="6553058" cy="1295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7"/>
              </a:lnSpc>
            </a:pPr>
            <a:r>
              <a:rPr lang="en-US" b="true" sz="234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Retransmissions increase linearly with loss rate as timeout-triggered window retransmissions multiply.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3098" y="1207075"/>
            <a:ext cx="7897914" cy="7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51"/>
              </a:lnSpc>
              <a:spcBef>
                <a:spcPct val="0"/>
              </a:spcBef>
            </a:pPr>
            <a:r>
              <a:rPr lang="en-US" b="true" sz="4558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Impact of Packet Loss Rate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3098" y="2415650"/>
            <a:ext cx="7897914" cy="70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51"/>
              </a:lnSpc>
              <a:spcBef>
                <a:spcPct val="0"/>
              </a:spcBef>
            </a:pPr>
            <a:r>
              <a:rPr lang="en-US" b="true" sz="4558">
                <a:solidFill>
                  <a:srgbClr val="CB5E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on Performance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285056" y="9084784"/>
            <a:ext cx="2974244" cy="666790"/>
            <a:chOff x="0" y="0"/>
            <a:chExt cx="783340" cy="1756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3340" cy="175616"/>
            </a:xfrm>
            <a:custGeom>
              <a:avLst/>
              <a:gdLst/>
              <a:ahLst/>
              <a:cxnLst/>
              <a:rect r="r" b="b" t="t" l="l"/>
              <a:pathLst>
                <a:path h="175616" w="783340">
                  <a:moveTo>
                    <a:pt x="87808" y="0"/>
                  </a:moveTo>
                  <a:lnTo>
                    <a:pt x="695532" y="0"/>
                  </a:lnTo>
                  <a:cubicBezTo>
                    <a:pt x="718820" y="0"/>
                    <a:pt x="741154" y="9251"/>
                    <a:pt x="757622" y="25718"/>
                  </a:cubicBezTo>
                  <a:cubicBezTo>
                    <a:pt x="774089" y="42185"/>
                    <a:pt x="783340" y="64520"/>
                    <a:pt x="783340" y="87808"/>
                  </a:cubicBezTo>
                  <a:lnTo>
                    <a:pt x="783340" y="87808"/>
                  </a:lnTo>
                  <a:cubicBezTo>
                    <a:pt x="783340" y="136303"/>
                    <a:pt x="744027" y="175616"/>
                    <a:pt x="695532" y="175616"/>
                  </a:cubicBezTo>
                  <a:lnTo>
                    <a:pt x="87808" y="175616"/>
                  </a:lnTo>
                  <a:cubicBezTo>
                    <a:pt x="64520" y="175616"/>
                    <a:pt x="42185" y="166364"/>
                    <a:pt x="25718" y="149897"/>
                  </a:cubicBezTo>
                  <a:cubicBezTo>
                    <a:pt x="9251" y="133430"/>
                    <a:pt x="0" y="111096"/>
                    <a:pt x="0" y="87808"/>
                  </a:cubicBezTo>
                  <a:lnTo>
                    <a:pt x="0" y="87808"/>
                  </a:lnTo>
                  <a:cubicBezTo>
                    <a:pt x="0" y="64520"/>
                    <a:pt x="9251" y="42185"/>
                    <a:pt x="25718" y="25718"/>
                  </a:cubicBezTo>
                  <a:cubicBezTo>
                    <a:pt x="42185" y="9251"/>
                    <a:pt x="64520" y="0"/>
                    <a:pt x="87808" y="0"/>
                  </a:cubicBezTo>
                  <a:close/>
                </a:path>
              </a:pathLst>
            </a:custGeom>
            <a:solidFill>
              <a:srgbClr val="CB5E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783340" cy="251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389308" y="9211866"/>
            <a:ext cx="2765740" cy="36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1"/>
              </a:lnSpc>
            </a:pPr>
            <a:r>
              <a:rPr lang="en-US" sz="2093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11/20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866531" y="2856362"/>
            <a:ext cx="7392769" cy="4574276"/>
          </a:xfrm>
          <a:custGeom>
            <a:avLst/>
            <a:gdLst/>
            <a:ahLst/>
            <a:cxnLst/>
            <a:rect r="r" b="b" t="t" l="l"/>
            <a:pathLst>
              <a:path h="4574276" w="7392769">
                <a:moveTo>
                  <a:pt x="0" y="0"/>
                </a:moveTo>
                <a:lnTo>
                  <a:pt x="7392769" y="0"/>
                </a:lnTo>
                <a:lnTo>
                  <a:pt x="7392769" y="4574276"/>
                </a:lnTo>
                <a:lnTo>
                  <a:pt x="0" y="4574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66921" y="4684024"/>
            <a:ext cx="537073" cy="5370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65077" y="1178500"/>
            <a:ext cx="537073" cy="5370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63098" y="4885886"/>
            <a:ext cx="6553058" cy="130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2"/>
              </a:lnSpc>
            </a:pPr>
            <a:r>
              <a:rPr lang="en-US" b="true" sz="237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Optimal timeout setting found at 500-1000ms range, balancing retransmission responsiveness with network stability.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3098" y="6782821"/>
            <a:ext cx="6553058" cy="130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2"/>
              </a:lnSpc>
            </a:pPr>
            <a:r>
              <a:rPr lang="en-US" b="true" sz="237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Too low timeout causes premature retransmissions; too high timeout delays recovery from actual packet loss.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3098" y="1226125"/>
            <a:ext cx="7897914" cy="748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7"/>
              </a:lnSpc>
              <a:spcBef>
                <a:spcPct val="0"/>
              </a:spcBef>
            </a:pPr>
            <a:r>
              <a:rPr lang="en-US" b="true" sz="4953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Impact of Timeout Value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3098" y="2434700"/>
            <a:ext cx="7897914" cy="748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7"/>
              </a:lnSpc>
              <a:spcBef>
                <a:spcPct val="0"/>
              </a:spcBef>
            </a:pPr>
            <a:r>
              <a:rPr lang="en-US" b="true" sz="4953">
                <a:solidFill>
                  <a:srgbClr val="CB5E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on Transfer Duration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285056" y="9084784"/>
            <a:ext cx="2974244" cy="666790"/>
            <a:chOff x="0" y="0"/>
            <a:chExt cx="783340" cy="1756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3340" cy="175616"/>
            </a:xfrm>
            <a:custGeom>
              <a:avLst/>
              <a:gdLst/>
              <a:ahLst/>
              <a:cxnLst/>
              <a:rect r="r" b="b" t="t" l="l"/>
              <a:pathLst>
                <a:path h="175616" w="783340">
                  <a:moveTo>
                    <a:pt x="87808" y="0"/>
                  </a:moveTo>
                  <a:lnTo>
                    <a:pt x="695532" y="0"/>
                  </a:lnTo>
                  <a:cubicBezTo>
                    <a:pt x="718820" y="0"/>
                    <a:pt x="741154" y="9251"/>
                    <a:pt x="757622" y="25718"/>
                  </a:cubicBezTo>
                  <a:cubicBezTo>
                    <a:pt x="774089" y="42185"/>
                    <a:pt x="783340" y="64520"/>
                    <a:pt x="783340" y="87808"/>
                  </a:cubicBezTo>
                  <a:lnTo>
                    <a:pt x="783340" y="87808"/>
                  </a:lnTo>
                  <a:cubicBezTo>
                    <a:pt x="783340" y="136303"/>
                    <a:pt x="744027" y="175616"/>
                    <a:pt x="695532" y="175616"/>
                  </a:cubicBezTo>
                  <a:lnTo>
                    <a:pt x="87808" y="175616"/>
                  </a:lnTo>
                  <a:cubicBezTo>
                    <a:pt x="64520" y="175616"/>
                    <a:pt x="42185" y="166364"/>
                    <a:pt x="25718" y="149897"/>
                  </a:cubicBezTo>
                  <a:cubicBezTo>
                    <a:pt x="9251" y="133430"/>
                    <a:pt x="0" y="111096"/>
                    <a:pt x="0" y="87808"/>
                  </a:cubicBezTo>
                  <a:lnTo>
                    <a:pt x="0" y="87808"/>
                  </a:lnTo>
                  <a:cubicBezTo>
                    <a:pt x="0" y="64520"/>
                    <a:pt x="9251" y="42185"/>
                    <a:pt x="25718" y="25718"/>
                  </a:cubicBezTo>
                  <a:cubicBezTo>
                    <a:pt x="42185" y="9251"/>
                    <a:pt x="64520" y="0"/>
                    <a:pt x="87808" y="0"/>
                  </a:cubicBezTo>
                  <a:close/>
                </a:path>
              </a:pathLst>
            </a:custGeom>
            <a:solidFill>
              <a:srgbClr val="CB5E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783340" cy="251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389308" y="9211866"/>
            <a:ext cx="2765740" cy="365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8"/>
              </a:lnSpc>
            </a:pPr>
            <a:r>
              <a:rPr lang="en-US" sz="212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12/20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381867" y="2638929"/>
            <a:ext cx="7773181" cy="4829089"/>
          </a:xfrm>
          <a:custGeom>
            <a:avLst/>
            <a:gdLst/>
            <a:ahLst/>
            <a:cxnLst/>
            <a:rect r="r" b="b" t="t" l="l"/>
            <a:pathLst>
              <a:path h="4829089" w="7773181">
                <a:moveTo>
                  <a:pt x="0" y="0"/>
                </a:moveTo>
                <a:lnTo>
                  <a:pt x="7773181" y="0"/>
                </a:lnTo>
                <a:lnTo>
                  <a:pt x="7773181" y="4829089"/>
                </a:lnTo>
                <a:lnTo>
                  <a:pt x="0" y="4829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66921" y="4684024"/>
            <a:ext cx="537073" cy="5370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65077" y="1178500"/>
            <a:ext cx="537073" cy="5370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63098" y="4885886"/>
            <a:ext cx="6553058" cy="862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2"/>
              </a:lnSpc>
            </a:pPr>
            <a:r>
              <a:rPr lang="en-US" b="true" sz="237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Ideal conditions achieve highest throughput with zero retransmissions required.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3098" y="6782821"/>
            <a:ext cx="6553058" cy="130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2"/>
              </a:lnSpc>
            </a:pPr>
            <a:r>
              <a:rPr lang="en-US" b="true" sz="237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Combined error and loss scenarios significantly reduce throughput while increasing retransmission overhead.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3098" y="1207075"/>
            <a:ext cx="7897914" cy="969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58"/>
              </a:lnSpc>
              <a:spcBef>
                <a:spcPct val="0"/>
              </a:spcBef>
            </a:pPr>
            <a:r>
              <a:rPr lang="en-US" b="true" sz="6246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Performance Under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3098" y="2415650"/>
            <a:ext cx="7897914" cy="186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58"/>
              </a:lnSpc>
              <a:spcBef>
                <a:spcPct val="0"/>
              </a:spcBef>
            </a:pPr>
            <a:r>
              <a:rPr lang="en-US" b="true" sz="6246">
                <a:solidFill>
                  <a:srgbClr val="CB5E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Different Network Conditions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285056" y="9084784"/>
            <a:ext cx="2974244" cy="666790"/>
            <a:chOff x="0" y="0"/>
            <a:chExt cx="783340" cy="1756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3340" cy="175616"/>
            </a:xfrm>
            <a:custGeom>
              <a:avLst/>
              <a:gdLst/>
              <a:ahLst/>
              <a:cxnLst/>
              <a:rect r="r" b="b" t="t" l="l"/>
              <a:pathLst>
                <a:path h="175616" w="783340">
                  <a:moveTo>
                    <a:pt x="87808" y="0"/>
                  </a:moveTo>
                  <a:lnTo>
                    <a:pt x="695532" y="0"/>
                  </a:lnTo>
                  <a:cubicBezTo>
                    <a:pt x="718820" y="0"/>
                    <a:pt x="741154" y="9251"/>
                    <a:pt x="757622" y="25718"/>
                  </a:cubicBezTo>
                  <a:cubicBezTo>
                    <a:pt x="774089" y="42185"/>
                    <a:pt x="783340" y="64520"/>
                    <a:pt x="783340" y="87808"/>
                  </a:cubicBezTo>
                  <a:lnTo>
                    <a:pt x="783340" y="87808"/>
                  </a:lnTo>
                  <a:cubicBezTo>
                    <a:pt x="783340" y="136303"/>
                    <a:pt x="744027" y="175616"/>
                    <a:pt x="695532" y="175616"/>
                  </a:cubicBezTo>
                  <a:lnTo>
                    <a:pt x="87808" y="175616"/>
                  </a:lnTo>
                  <a:cubicBezTo>
                    <a:pt x="64520" y="175616"/>
                    <a:pt x="42185" y="166364"/>
                    <a:pt x="25718" y="149897"/>
                  </a:cubicBezTo>
                  <a:cubicBezTo>
                    <a:pt x="9251" y="133430"/>
                    <a:pt x="0" y="111096"/>
                    <a:pt x="0" y="87808"/>
                  </a:cubicBezTo>
                  <a:lnTo>
                    <a:pt x="0" y="87808"/>
                  </a:lnTo>
                  <a:cubicBezTo>
                    <a:pt x="0" y="64520"/>
                    <a:pt x="9251" y="42185"/>
                    <a:pt x="25718" y="25718"/>
                  </a:cubicBezTo>
                  <a:cubicBezTo>
                    <a:pt x="42185" y="9251"/>
                    <a:pt x="64520" y="0"/>
                    <a:pt x="87808" y="0"/>
                  </a:cubicBezTo>
                  <a:close/>
                </a:path>
              </a:pathLst>
            </a:custGeom>
            <a:solidFill>
              <a:srgbClr val="CB5E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783340" cy="251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389308" y="9211866"/>
            <a:ext cx="2765740" cy="365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8"/>
              </a:lnSpc>
            </a:pPr>
            <a:r>
              <a:rPr lang="en-US" sz="212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13/20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229569" y="3063174"/>
            <a:ext cx="7704044" cy="4574276"/>
          </a:xfrm>
          <a:custGeom>
            <a:avLst/>
            <a:gdLst/>
            <a:ahLst/>
            <a:cxnLst/>
            <a:rect r="r" b="b" t="t" l="l"/>
            <a:pathLst>
              <a:path h="4574276" w="7704044">
                <a:moveTo>
                  <a:pt x="0" y="0"/>
                </a:moveTo>
                <a:lnTo>
                  <a:pt x="7704044" y="0"/>
                </a:lnTo>
                <a:lnTo>
                  <a:pt x="7704044" y="4574276"/>
                </a:lnTo>
                <a:lnTo>
                  <a:pt x="0" y="4574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85214" y="2434700"/>
            <a:ext cx="537073" cy="5370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65077" y="1178500"/>
            <a:ext cx="537073" cy="5370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636516" y="827868"/>
            <a:ext cx="6553058" cy="1259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75"/>
              </a:lnSpc>
            </a:pPr>
            <a:r>
              <a:rPr lang="en-US" b="true" sz="2265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Ideal Conditions: 100% successful transmissions with zero retransmission overhead, demonstrating optimal protocol efficiency.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36516" y="2724804"/>
            <a:ext cx="6553058" cy="1259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75"/>
              </a:lnSpc>
            </a:pPr>
            <a:r>
              <a:rPr lang="en-US" b="true" sz="2265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10% Error/Loss: ~85% successful transmissions with 15% retransmission overhead due to packet recovery.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3098" y="1216600"/>
            <a:ext cx="7897914" cy="101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64"/>
              </a:lnSpc>
              <a:spcBef>
                <a:spcPct val="0"/>
              </a:spcBef>
            </a:pPr>
            <a:r>
              <a:rPr lang="en-US" b="true" sz="6606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Efficiency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3098" y="2425175"/>
            <a:ext cx="7897914" cy="101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64"/>
              </a:lnSpc>
              <a:spcBef>
                <a:spcPct val="0"/>
              </a:spcBef>
            </a:pPr>
            <a:r>
              <a:rPr lang="en-US" b="true" sz="6606">
                <a:solidFill>
                  <a:srgbClr val="CB5E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with Pie Charts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285056" y="9084784"/>
            <a:ext cx="2974244" cy="666790"/>
            <a:chOff x="0" y="0"/>
            <a:chExt cx="783340" cy="1756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3340" cy="175616"/>
            </a:xfrm>
            <a:custGeom>
              <a:avLst/>
              <a:gdLst/>
              <a:ahLst/>
              <a:cxnLst/>
              <a:rect r="r" b="b" t="t" l="l"/>
              <a:pathLst>
                <a:path h="175616" w="783340">
                  <a:moveTo>
                    <a:pt x="87808" y="0"/>
                  </a:moveTo>
                  <a:lnTo>
                    <a:pt x="695532" y="0"/>
                  </a:lnTo>
                  <a:cubicBezTo>
                    <a:pt x="718820" y="0"/>
                    <a:pt x="741154" y="9251"/>
                    <a:pt x="757622" y="25718"/>
                  </a:cubicBezTo>
                  <a:cubicBezTo>
                    <a:pt x="774089" y="42185"/>
                    <a:pt x="783340" y="64520"/>
                    <a:pt x="783340" y="87808"/>
                  </a:cubicBezTo>
                  <a:lnTo>
                    <a:pt x="783340" y="87808"/>
                  </a:lnTo>
                  <a:cubicBezTo>
                    <a:pt x="783340" y="136303"/>
                    <a:pt x="744027" y="175616"/>
                    <a:pt x="695532" y="175616"/>
                  </a:cubicBezTo>
                  <a:lnTo>
                    <a:pt x="87808" y="175616"/>
                  </a:lnTo>
                  <a:cubicBezTo>
                    <a:pt x="64520" y="175616"/>
                    <a:pt x="42185" y="166364"/>
                    <a:pt x="25718" y="149897"/>
                  </a:cubicBezTo>
                  <a:cubicBezTo>
                    <a:pt x="9251" y="133430"/>
                    <a:pt x="0" y="111096"/>
                    <a:pt x="0" y="87808"/>
                  </a:cubicBezTo>
                  <a:lnTo>
                    <a:pt x="0" y="87808"/>
                  </a:lnTo>
                  <a:cubicBezTo>
                    <a:pt x="0" y="64520"/>
                    <a:pt x="9251" y="42185"/>
                    <a:pt x="25718" y="25718"/>
                  </a:cubicBezTo>
                  <a:cubicBezTo>
                    <a:pt x="42185" y="9251"/>
                    <a:pt x="64520" y="0"/>
                    <a:pt x="87808" y="0"/>
                  </a:cubicBezTo>
                  <a:close/>
                </a:path>
              </a:pathLst>
            </a:custGeom>
            <a:solidFill>
              <a:srgbClr val="CB5E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783340" cy="251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389308" y="9211866"/>
            <a:ext cx="2765740" cy="348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7"/>
              </a:lnSpc>
            </a:pPr>
            <a:r>
              <a:rPr lang="en-US" sz="202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14/20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218120" y="4829980"/>
            <a:ext cx="13851759" cy="3185905"/>
          </a:xfrm>
          <a:custGeom>
            <a:avLst/>
            <a:gdLst/>
            <a:ahLst/>
            <a:cxnLst/>
            <a:rect r="r" b="b" t="t" l="l"/>
            <a:pathLst>
              <a:path h="3185905" w="13851759">
                <a:moveTo>
                  <a:pt x="0" y="0"/>
                </a:moveTo>
                <a:lnTo>
                  <a:pt x="13851760" y="0"/>
                </a:lnTo>
                <a:lnTo>
                  <a:pt x="13851760" y="3185905"/>
                </a:lnTo>
                <a:lnTo>
                  <a:pt x="0" y="31859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66921" y="4684024"/>
            <a:ext cx="537073" cy="5370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65077" y="1178500"/>
            <a:ext cx="537073" cy="5370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63098" y="4885886"/>
            <a:ext cx="6553058" cy="130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2"/>
              </a:lnSpc>
            </a:pPr>
            <a:r>
              <a:rPr lang="en-US" b="true" sz="237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Timeline visualization for packets 0 to 20 with sliding window size 4, demonstrating cumulative ACKs.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3098" y="6782821"/>
            <a:ext cx="6553058" cy="862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2"/>
              </a:lnSpc>
            </a:pPr>
            <a:r>
              <a:rPr lang="en-US" b="true" sz="237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Shows packet transmission, acknowledgment flow, and retransmission behavior patterns.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3098" y="1197550"/>
            <a:ext cx="7897914" cy="107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48"/>
              </a:lnSpc>
              <a:spcBef>
                <a:spcPct val="0"/>
              </a:spcBef>
            </a:pPr>
            <a:r>
              <a:rPr lang="en-US" b="true" sz="6857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Go-Back-N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3098" y="2406125"/>
            <a:ext cx="7897914" cy="107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48"/>
              </a:lnSpc>
              <a:spcBef>
                <a:spcPct val="0"/>
              </a:spcBef>
            </a:pPr>
            <a:r>
              <a:rPr lang="en-US" b="true" sz="6857">
                <a:solidFill>
                  <a:srgbClr val="CB5E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Protocol Timeline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285056" y="9084784"/>
            <a:ext cx="2974244" cy="666790"/>
            <a:chOff x="0" y="0"/>
            <a:chExt cx="783340" cy="1756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3340" cy="175616"/>
            </a:xfrm>
            <a:custGeom>
              <a:avLst/>
              <a:gdLst/>
              <a:ahLst/>
              <a:cxnLst/>
              <a:rect r="r" b="b" t="t" l="l"/>
              <a:pathLst>
                <a:path h="175616" w="783340">
                  <a:moveTo>
                    <a:pt x="87808" y="0"/>
                  </a:moveTo>
                  <a:lnTo>
                    <a:pt x="695532" y="0"/>
                  </a:lnTo>
                  <a:cubicBezTo>
                    <a:pt x="718820" y="0"/>
                    <a:pt x="741154" y="9251"/>
                    <a:pt x="757622" y="25718"/>
                  </a:cubicBezTo>
                  <a:cubicBezTo>
                    <a:pt x="774089" y="42185"/>
                    <a:pt x="783340" y="64520"/>
                    <a:pt x="783340" y="87808"/>
                  </a:cubicBezTo>
                  <a:lnTo>
                    <a:pt x="783340" y="87808"/>
                  </a:lnTo>
                  <a:cubicBezTo>
                    <a:pt x="783340" y="136303"/>
                    <a:pt x="744027" y="175616"/>
                    <a:pt x="695532" y="175616"/>
                  </a:cubicBezTo>
                  <a:lnTo>
                    <a:pt x="87808" y="175616"/>
                  </a:lnTo>
                  <a:cubicBezTo>
                    <a:pt x="64520" y="175616"/>
                    <a:pt x="42185" y="166364"/>
                    <a:pt x="25718" y="149897"/>
                  </a:cubicBezTo>
                  <a:cubicBezTo>
                    <a:pt x="9251" y="133430"/>
                    <a:pt x="0" y="111096"/>
                    <a:pt x="0" y="87808"/>
                  </a:cubicBezTo>
                  <a:lnTo>
                    <a:pt x="0" y="87808"/>
                  </a:lnTo>
                  <a:cubicBezTo>
                    <a:pt x="0" y="64520"/>
                    <a:pt x="9251" y="42185"/>
                    <a:pt x="25718" y="25718"/>
                  </a:cubicBezTo>
                  <a:cubicBezTo>
                    <a:pt x="42185" y="9251"/>
                    <a:pt x="64520" y="0"/>
                    <a:pt x="87808" y="0"/>
                  </a:cubicBezTo>
                  <a:close/>
                </a:path>
              </a:pathLst>
            </a:custGeom>
            <a:solidFill>
              <a:srgbClr val="CB5E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783340" cy="251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389308" y="9211866"/>
            <a:ext cx="2765740" cy="365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8"/>
              </a:lnSpc>
            </a:pPr>
            <a:r>
              <a:rPr lang="en-US" sz="212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15/20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989002" y="4684024"/>
            <a:ext cx="8270298" cy="3235754"/>
          </a:xfrm>
          <a:custGeom>
            <a:avLst/>
            <a:gdLst/>
            <a:ahLst/>
            <a:cxnLst/>
            <a:rect r="r" b="b" t="t" l="l"/>
            <a:pathLst>
              <a:path h="3235754" w="8270298">
                <a:moveTo>
                  <a:pt x="0" y="0"/>
                </a:moveTo>
                <a:lnTo>
                  <a:pt x="8270298" y="0"/>
                </a:lnTo>
                <a:lnTo>
                  <a:pt x="8270298" y="3235754"/>
                </a:lnTo>
                <a:lnTo>
                  <a:pt x="0" y="3235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66921" y="4684024"/>
            <a:ext cx="537073" cy="5370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65077" y="1178500"/>
            <a:ext cx="537073" cy="5370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63098" y="4885886"/>
            <a:ext cx="6553058" cy="130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2"/>
              </a:lnSpc>
            </a:pPr>
            <a:r>
              <a:rPr lang="en-US" b="true" sz="237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Protocol efficiency remains constant at 100% across all window sizes, demonstrating robust reliability.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3098" y="6782821"/>
            <a:ext cx="6553058" cy="862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42"/>
              </a:lnSpc>
            </a:pPr>
            <a:r>
              <a:rPr lang="en-US" b="true" sz="237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Channel utilization increases significantly with window size, ranging from 65% to 97%.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3098" y="1197550"/>
            <a:ext cx="7897914" cy="107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48"/>
              </a:lnSpc>
              <a:spcBef>
                <a:spcPct val="0"/>
              </a:spcBef>
            </a:pPr>
            <a:r>
              <a:rPr lang="en-US" b="true" sz="6857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Window Size vs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3098" y="2406125"/>
            <a:ext cx="7897914" cy="205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48"/>
              </a:lnSpc>
              <a:spcBef>
                <a:spcPct val="0"/>
              </a:spcBef>
            </a:pPr>
            <a:r>
              <a:rPr lang="en-US" b="true" sz="6857">
                <a:solidFill>
                  <a:srgbClr val="CB5E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Protocol Performance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285056" y="9084784"/>
            <a:ext cx="2974244" cy="666790"/>
            <a:chOff x="0" y="0"/>
            <a:chExt cx="783340" cy="1756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3340" cy="175616"/>
            </a:xfrm>
            <a:custGeom>
              <a:avLst/>
              <a:gdLst/>
              <a:ahLst/>
              <a:cxnLst/>
              <a:rect r="r" b="b" t="t" l="l"/>
              <a:pathLst>
                <a:path h="175616" w="783340">
                  <a:moveTo>
                    <a:pt x="87808" y="0"/>
                  </a:moveTo>
                  <a:lnTo>
                    <a:pt x="695532" y="0"/>
                  </a:lnTo>
                  <a:cubicBezTo>
                    <a:pt x="718820" y="0"/>
                    <a:pt x="741154" y="9251"/>
                    <a:pt x="757622" y="25718"/>
                  </a:cubicBezTo>
                  <a:cubicBezTo>
                    <a:pt x="774089" y="42185"/>
                    <a:pt x="783340" y="64520"/>
                    <a:pt x="783340" y="87808"/>
                  </a:cubicBezTo>
                  <a:lnTo>
                    <a:pt x="783340" y="87808"/>
                  </a:lnTo>
                  <a:cubicBezTo>
                    <a:pt x="783340" y="136303"/>
                    <a:pt x="744027" y="175616"/>
                    <a:pt x="695532" y="175616"/>
                  </a:cubicBezTo>
                  <a:lnTo>
                    <a:pt x="87808" y="175616"/>
                  </a:lnTo>
                  <a:cubicBezTo>
                    <a:pt x="64520" y="175616"/>
                    <a:pt x="42185" y="166364"/>
                    <a:pt x="25718" y="149897"/>
                  </a:cubicBezTo>
                  <a:cubicBezTo>
                    <a:pt x="9251" y="133430"/>
                    <a:pt x="0" y="111096"/>
                    <a:pt x="0" y="87808"/>
                  </a:cubicBezTo>
                  <a:lnTo>
                    <a:pt x="0" y="87808"/>
                  </a:lnTo>
                  <a:cubicBezTo>
                    <a:pt x="0" y="64520"/>
                    <a:pt x="9251" y="42185"/>
                    <a:pt x="25718" y="25718"/>
                  </a:cubicBezTo>
                  <a:cubicBezTo>
                    <a:pt x="42185" y="9251"/>
                    <a:pt x="64520" y="0"/>
                    <a:pt x="87808" y="0"/>
                  </a:cubicBezTo>
                  <a:close/>
                </a:path>
              </a:pathLst>
            </a:custGeom>
            <a:solidFill>
              <a:srgbClr val="CB5E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783340" cy="251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389308" y="9211866"/>
            <a:ext cx="2765740" cy="365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8"/>
              </a:lnSpc>
            </a:pPr>
            <a:r>
              <a:rPr lang="en-US" sz="212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16/20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906715" y="3170839"/>
            <a:ext cx="7758362" cy="4800486"/>
          </a:xfrm>
          <a:custGeom>
            <a:avLst/>
            <a:gdLst/>
            <a:ahLst/>
            <a:cxnLst/>
            <a:rect r="r" b="b" t="t" l="l"/>
            <a:pathLst>
              <a:path h="4800486" w="7758362">
                <a:moveTo>
                  <a:pt x="0" y="0"/>
                </a:moveTo>
                <a:lnTo>
                  <a:pt x="7758362" y="0"/>
                </a:lnTo>
                <a:lnTo>
                  <a:pt x="7758362" y="4800486"/>
                </a:lnTo>
                <a:lnTo>
                  <a:pt x="0" y="48004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568268"/>
            <a:ext cx="537073" cy="5370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34439" y="670002"/>
            <a:ext cx="537073" cy="5370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285056" y="9084784"/>
            <a:ext cx="2974244" cy="666790"/>
            <a:chOff x="0" y="0"/>
            <a:chExt cx="783340" cy="1756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3340" cy="175616"/>
            </a:xfrm>
            <a:custGeom>
              <a:avLst/>
              <a:gdLst/>
              <a:ahLst/>
              <a:cxnLst/>
              <a:rect r="r" b="b" t="t" l="l"/>
              <a:pathLst>
                <a:path h="175616" w="783340">
                  <a:moveTo>
                    <a:pt x="87808" y="0"/>
                  </a:moveTo>
                  <a:lnTo>
                    <a:pt x="695532" y="0"/>
                  </a:lnTo>
                  <a:cubicBezTo>
                    <a:pt x="718820" y="0"/>
                    <a:pt x="741154" y="9251"/>
                    <a:pt x="757622" y="25718"/>
                  </a:cubicBezTo>
                  <a:cubicBezTo>
                    <a:pt x="774089" y="42185"/>
                    <a:pt x="783340" y="64520"/>
                    <a:pt x="783340" y="87808"/>
                  </a:cubicBezTo>
                  <a:lnTo>
                    <a:pt x="783340" y="87808"/>
                  </a:lnTo>
                  <a:cubicBezTo>
                    <a:pt x="783340" y="136303"/>
                    <a:pt x="744027" y="175616"/>
                    <a:pt x="695532" y="175616"/>
                  </a:cubicBezTo>
                  <a:lnTo>
                    <a:pt x="87808" y="175616"/>
                  </a:lnTo>
                  <a:cubicBezTo>
                    <a:pt x="64520" y="175616"/>
                    <a:pt x="42185" y="166364"/>
                    <a:pt x="25718" y="149897"/>
                  </a:cubicBezTo>
                  <a:cubicBezTo>
                    <a:pt x="9251" y="133430"/>
                    <a:pt x="0" y="111096"/>
                    <a:pt x="0" y="87808"/>
                  </a:cubicBezTo>
                  <a:lnTo>
                    <a:pt x="0" y="87808"/>
                  </a:lnTo>
                  <a:cubicBezTo>
                    <a:pt x="0" y="64520"/>
                    <a:pt x="9251" y="42185"/>
                    <a:pt x="25718" y="25718"/>
                  </a:cubicBezTo>
                  <a:cubicBezTo>
                    <a:pt x="42185" y="9251"/>
                    <a:pt x="64520" y="0"/>
                    <a:pt x="87808" y="0"/>
                  </a:cubicBezTo>
                  <a:close/>
                </a:path>
              </a:pathLst>
            </a:custGeom>
            <a:solidFill>
              <a:srgbClr val="CB5E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783340" cy="251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5120" y="1699666"/>
            <a:ext cx="6561082" cy="5939915"/>
            <a:chOff x="0" y="0"/>
            <a:chExt cx="5580380" cy="50520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-705" y="-225"/>
              <a:ext cx="5580557" cy="5052325"/>
            </a:xfrm>
            <a:custGeom>
              <a:avLst/>
              <a:gdLst/>
              <a:ahLst/>
              <a:cxnLst/>
              <a:rect r="r" b="b" t="t" l="l"/>
              <a:pathLst>
                <a:path h="5052325" w="5580557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1861749"/>
            <a:ext cx="6584458" cy="5961078"/>
            <a:chOff x="0" y="0"/>
            <a:chExt cx="5580380" cy="50520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-705" y="-225"/>
              <a:ext cx="5580557" cy="5052325"/>
            </a:xfrm>
            <a:custGeom>
              <a:avLst/>
              <a:gdLst/>
              <a:ahLst/>
              <a:cxnLst/>
              <a:rect r="r" b="b" t="t" l="l"/>
              <a:pathLst>
                <a:path h="5052325" w="5580557">
                  <a:moveTo>
                    <a:pt x="4709865" y="382495"/>
                  </a:moveTo>
                  <a:cubicBezTo>
                    <a:pt x="3938975" y="-21365"/>
                    <a:pt x="3222695" y="439645"/>
                    <a:pt x="2649925" y="439645"/>
                  </a:cubicBezTo>
                  <a:cubicBezTo>
                    <a:pt x="2205425" y="439645"/>
                    <a:pt x="1367225" y="-672875"/>
                    <a:pt x="366465" y="641575"/>
                  </a:cubicBezTo>
                  <a:cubicBezTo>
                    <a:pt x="-634295" y="1956025"/>
                    <a:pt x="612845" y="3193005"/>
                    <a:pt x="1734255" y="4273775"/>
                  </a:cubicBezTo>
                  <a:cubicBezTo>
                    <a:pt x="2855665" y="5354545"/>
                    <a:pt x="4379665" y="5336765"/>
                    <a:pt x="5259775" y="4052795"/>
                  </a:cubicBezTo>
                  <a:cubicBezTo>
                    <a:pt x="5854135" y="3186655"/>
                    <a:pt x="5595055" y="847315"/>
                    <a:pt x="4709865" y="382495"/>
                  </a:cubicBezTo>
                  <a:close/>
                </a:path>
              </a:pathLst>
            </a:custGeom>
            <a:blipFill>
              <a:blip r:embed="rId2"/>
              <a:stretch>
                <a:fillRect l="0" t="-10455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495707" y="4468349"/>
            <a:ext cx="6476937" cy="666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4"/>
              </a:lnSpc>
            </a:pPr>
            <a:r>
              <a:rPr lang="en-US" b="true" sz="1828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Input and output file sizes match exactly; MD5 hash verification confirms zero data corruption.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95707" y="3772036"/>
            <a:ext cx="7034974" cy="48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9"/>
              </a:lnSpc>
            </a:pPr>
            <a:r>
              <a:rPr lang="en-US" b="true" sz="2692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File Integrity Verification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95707" y="6256255"/>
            <a:ext cx="6476937" cy="666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4"/>
              </a:lnSpc>
            </a:pPr>
            <a:r>
              <a:rPr lang="en-US" b="true" sz="1828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Basic transfer, variable window sizes (2-32), packet error scenarios, and packet loss scenarios all validated.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95707" y="5554610"/>
            <a:ext cx="7801704" cy="48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9"/>
              </a:lnSpc>
            </a:pPr>
            <a:r>
              <a:rPr lang="en-US" b="true" sz="2692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Core Test Cases Passed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95707" y="8040408"/>
            <a:ext cx="7034974" cy="666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4"/>
              </a:lnSpc>
            </a:pPr>
            <a:r>
              <a:rPr lang="en-US" b="true" sz="1828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Timeout variation tests, large file transfer (3MB), and bidirectional transfer functionality confirmed working correctly.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95707" y="7338764"/>
            <a:ext cx="6215275" cy="48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9"/>
              </a:lnSpc>
            </a:pPr>
            <a:r>
              <a:rPr lang="en-US" b="true" sz="2692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Extended Validation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95707" y="1197550"/>
            <a:ext cx="8725493" cy="971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59"/>
              </a:lnSpc>
              <a:spcBef>
                <a:spcPct val="0"/>
              </a:spcBef>
            </a:pPr>
            <a:r>
              <a:rPr lang="en-US" b="true" sz="633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Testing &amp; Validation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95707" y="2159873"/>
            <a:ext cx="6288678" cy="971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59"/>
              </a:lnSpc>
              <a:spcBef>
                <a:spcPct val="0"/>
              </a:spcBef>
            </a:pPr>
            <a:r>
              <a:rPr lang="en-US" b="true" sz="6335">
                <a:solidFill>
                  <a:srgbClr val="CB5E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Results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389308" y="9221391"/>
            <a:ext cx="2765740" cy="34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69"/>
              </a:lnSpc>
            </a:pPr>
            <a:r>
              <a:rPr lang="en-US" sz="204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17/20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66921" y="4684024"/>
            <a:ext cx="537073" cy="5370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65077" y="1178500"/>
            <a:ext cx="537073" cy="5370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285056" y="9084784"/>
            <a:ext cx="2974244" cy="666790"/>
            <a:chOff x="0" y="0"/>
            <a:chExt cx="783340" cy="1756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3340" cy="175616"/>
            </a:xfrm>
            <a:custGeom>
              <a:avLst/>
              <a:gdLst/>
              <a:ahLst/>
              <a:cxnLst/>
              <a:rect r="r" b="b" t="t" l="l"/>
              <a:pathLst>
                <a:path h="175616" w="783340">
                  <a:moveTo>
                    <a:pt x="87808" y="0"/>
                  </a:moveTo>
                  <a:lnTo>
                    <a:pt x="695532" y="0"/>
                  </a:lnTo>
                  <a:cubicBezTo>
                    <a:pt x="718820" y="0"/>
                    <a:pt x="741154" y="9251"/>
                    <a:pt x="757622" y="25718"/>
                  </a:cubicBezTo>
                  <a:cubicBezTo>
                    <a:pt x="774089" y="42185"/>
                    <a:pt x="783340" y="64520"/>
                    <a:pt x="783340" y="87808"/>
                  </a:cubicBezTo>
                  <a:lnTo>
                    <a:pt x="783340" y="87808"/>
                  </a:lnTo>
                  <a:cubicBezTo>
                    <a:pt x="783340" y="136303"/>
                    <a:pt x="744027" y="175616"/>
                    <a:pt x="695532" y="175616"/>
                  </a:cubicBezTo>
                  <a:lnTo>
                    <a:pt x="87808" y="175616"/>
                  </a:lnTo>
                  <a:cubicBezTo>
                    <a:pt x="64520" y="175616"/>
                    <a:pt x="42185" y="166364"/>
                    <a:pt x="25718" y="149897"/>
                  </a:cubicBezTo>
                  <a:cubicBezTo>
                    <a:pt x="9251" y="133430"/>
                    <a:pt x="0" y="111096"/>
                    <a:pt x="0" y="87808"/>
                  </a:cubicBezTo>
                  <a:lnTo>
                    <a:pt x="0" y="87808"/>
                  </a:lnTo>
                  <a:cubicBezTo>
                    <a:pt x="0" y="64520"/>
                    <a:pt x="9251" y="42185"/>
                    <a:pt x="25718" y="25718"/>
                  </a:cubicBezTo>
                  <a:cubicBezTo>
                    <a:pt x="42185" y="9251"/>
                    <a:pt x="64520" y="0"/>
                    <a:pt x="87808" y="0"/>
                  </a:cubicBezTo>
                  <a:close/>
                </a:path>
              </a:pathLst>
            </a:custGeom>
            <a:solidFill>
              <a:srgbClr val="CB5E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783340" cy="251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142357" y="1855766"/>
            <a:ext cx="5676495" cy="6294501"/>
          </a:xfrm>
          <a:custGeom>
            <a:avLst/>
            <a:gdLst/>
            <a:ahLst/>
            <a:cxnLst/>
            <a:rect r="r" b="b" t="t" l="l"/>
            <a:pathLst>
              <a:path h="6294501" w="5676495">
                <a:moveTo>
                  <a:pt x="0" y="0"/>
                </a:moveTo>
                <a:lnTo>
                  <a:pt x="5676495" y="0"/>
                </a:lnTo>
                <a:lnTo>
                  <a:pt x="5676495" y="6294501"/>
                </a:lnTo>
                <a:lnTo>
                  <a:pt x="0" y="6294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63098" y="5892744"/>
            <a:ext cx="9879259" cy="1749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Problem: Sender and receiver were using different </a:t>
            </a: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CRC implementations, causing valid packets to be rejected as corrupted.</a:t>
            </a:r>
          </a:p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Solution: Standardized both sides to use CRC-CCITT algorithm (polynomial 0x1021, initial value 0xFFFF).</a:t>
            </a:r>
          </a:p>
          <a:p>
            <a:pPr algn="l" marL="0" indent="0" lvl="0">
              <a:lnSpc>
                <a:spcPts val="282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263098" y="8392685"/>
            <a:ext cx="10917843" cy="1396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Problem: Receiver</a:t>
            </a: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was sending ACKs for individual packets instead of cumulative acknowledgments, breaking GBN semantics.</a:t>
            </a:r>
          </a:p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Solution: Modified receiver to always send ACK = next expected sequence number.</a:t>
            </a:r>
          </a:p>
          <a:p>
            <a:pPr algn="l" marL="0" indent="0" lvl="0">
              <a:lnSpc>
                <a:spcPts val="2827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263098" y="5048250"/>
            <a:ext cx="7525089" cy="110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8"/>
              </a:lnSpc>
            </a:pPr>
            <a:r>
              <a:rPr lang="en-US" b="true" sz="3092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1. </a:t>
            </a:r>
            <a:r>
              <a:rPr lang="en-US" b="true" sz="3092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CRC Checksum Mismatch</a:t>
            </a:r>
          </a:p>
          <a:p>
            <a:pPr algn="l" marL="0" indent="0" lvl="0">
              <a:lnSpc>
                <a:spcPts val="4328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63098" y="7551362"/>
            <a:ext cx="9166293" cy="110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8"/>
              </a:lnSpc>
            </a:pPr>
            <a:r>
              <a:rPr lang="en-US" sz="3092" b="true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2. Cumulative ACK Handling</a:t>
            </a:r>
          </a:p>
          <a:p>
            <a:pPr algn="l" marL="0" indent="0" lvl="0">
              <a:lnSpc>
                <a:spcPts val="4328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63098" y="1207075"/>
            <a:ext cx="7897914" cy="2365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1"/>
              </a:lnSpc>
              <a:spcBef>
                <a:spcPct val="0"/>
              </a:spcBef>
            </a:pPr>
            <a:r>
              <a:rPr lang="en-US" b="true" sz="7956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Key Challenges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3098" y="3553391"/>
            <a:ext cx="7897914" cy="122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1"/>
              </a:lnSpc>
              <a:spcBef>
                <a:spcPct val="0"/>
              </a:spcBef>
            </a:pPr>
            <a:r>
              <a:rPr lang="en-US" b="true" sz="7956">
                <a:solidFill>
                  <a:srgbClr val="CB5E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&amp; Solutions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89308" y="9211866"/>
            <a:ext cx="2765740" cy="365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8"/>
              </a:lnSpc>
            </a:pPr>
            <a:r>
              <a:rPr lang="en-US" sz="212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18/20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568268"/>
            <a:ext cx="537073" cy="5370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34439" y="670002"/>
            <a:ext cx="537073" cy="5370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285056" y="9084784"/>
            <a:ext cx="2974244" cy="666790"/>
            <a:chOff x="0" y="0"/>
            <a:chExt cx="783340" cy="1756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3340" cy="175616"/>
            </a:xfrm>
            <a:custGeom>
              <a:avLst/>
              <a:gdLst/>
              <a:ahLst/>
              <a:cxnLst/>
              <a:rect r="r" b="b" t="t" l="l"/>
              <a:pathLst>
                <a:path h="175616" w="783340">
                  <a:moveTo>
                    <a:pt x="87808" y="0"/>
                  </a:moveTo>
                  <a:lnTo>
                    <a:pt x="695532" y="0"/>
                  </a:lnTo>
                  <a:cubicBezTo>
                    <a:pt x="718820" y="0"/>
                    <a:pt x="741154" y="9251"/>
                    <a:pt x="757622" y="25718"/>
                  </a:cubicBezTo>
                  <a:cubicBezTo>
                    <a:pt x="774089" y="42185"/>
                    <a:pt x="783340" y="64520"/>
                    <a:pt x="783340" y="87808"/>
                  </a:cubicBezTo>
                  <a:lnTo>
                    <a:pt x="783340" y="87808"/>
                  </a:lnTo>
                  <a:cubicBezTo>
                    <a:pt x="783340" y="136303"/>
                    <a:pt x="744027" y="175616"/>
                    <a:pt x="695532" y="175616"/>
                  </a:cubicBezTo>
                  <a:lnTo>
                    <a:pt x="87808" y="175616"/>
                  </a:lnTo>
                  <a:cubicBezTo>
                    <a:pt x="64520" y="175616"/>
                    <a:pt x="42185" y="166364"/>
                    <a:pt x="25718" y="149897"/>
                  </a:cubicBezTo>
                  <a:cubicBezTo>
                    <a:pt x="9251" y="133430"/>
                    <a:pt x="0" y="111096"/>
                    <a:pt x="0" y="87808"/>
                  </a:cubicBezTo>
                  <a:lnTo>
                    <a:pt x="0" y="87808"/>
                  </a:lnTo>
                  <a:cubicBezTo>
                    <a:pt x="0" y="64520"/>
                    <a:pt x="9251" y="42185"/>
                    <a:pt x="25718" y="25718"/>
                  </a:cubicBezTo>
                  <a:cubicBezTo>
                    <a:pt x="42185" y="9251"/>
                    <a:pt x="64520" y="0"/>
                    <a:pt x="87808" y="0"/>
                  </a:cubicBezTo>
                  <a:close/>
                </a:path>
              </a:pathLst>
            </a:custGeom>
            <a:solidFill>
              <a:srgbClr val="CB5E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783340" cy="251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65773" y="2506554"/>
            <a:ext cx="5898954" cy="5898954"/>
          </a:xfrm>
          <a:custGeom>
            <a:avLst/>
            <a:gdLst/>
            <a:ahLst/>
            <a:cxnLst/>
            <a:rect r="r" b="b" t="t" l="l"/>
            <a:pathLst>
              <a:path h="5898954" w="5898954">
                <a:moveTo>
                  <a:pt x="0" y="0"/>
                </a:moveTo>
                <a:lnTo>
                  <a:pt x="5898954" y="0"/>
                </a:lnTo>
                <a:lnTo>
                  <a:pt x="5898954" y="5898954"/>
                </a:lnTo>
                <a:lnTo>
                  <a:pt x="0" y="5898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495707" y="4458824"/>
            <a:ext cx="6476937" cy="69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Achieved 100% data integrity under all test conditions with MD5 verification confirming exact file matches.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95707" y="3772036"/>
            <a:ext cx="7034974" cy="48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9"/>
              </a:lnSpc>
            </a:pPr>
            <a:r>
              <a:rPr lang="en-US" b="true" sz="2692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Zero Data Loss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95707" y="6246730"/>
            <a:ext cx="6476937" cy="69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100% efficiency in ideal conditions; maintained reliable transfer even under 20% error and loss rates.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95707" y="5554610"/>
            <a:ext cx="7801704" cy="48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9"/>
              </a:lnSpc>
            </a:pPr>
            <a:r>
              <a:rPr lang="en-US" b="true" sz="2692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Robust Error Recovery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95707" y="8030883"/>
            <a:ext cx="7034974" cy="69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</a:pPr>
            <a:r>
              <a:rPr lang="en-US" b="true" sz="1897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Fully configurable parameters (window size, timeout, error rates) with comprehensive logging for performance analysis.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95707" y="7338764"/>
            <a:ext cx="6215275" cy="48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9"/>
              </a:lnSpc>
            </a:pPr>
            <a:r>
              <a:rPr lang="en-US" b="true" sz="2692">
                <a:solidFill>
                  <a:srgbClr val="CB5E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Flexible Configuration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95707" y="1188025"/>
            <a:ext cx="8725493" cy="95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71"/>
              </a:lnSpc>
              <a:spcBef>
                <a:spcPct val="0"/>
              </a:spcBef>
            </a:pPr>
            <a:r>
              <a:rPr lang="en-US" b="true" sz="6169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Key Achievements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95707" y="2150348"/>
            <a:ext cx="6288678" cy="95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71"/>
              </a:lnSpc>
              <a:spcBef>
                <a:spcPct val="0"/>
              </a:spcBef>
            </a:pPr>
            <a:r>
              <a:rPr lang="en-US" b="true" sz="6169">
                <a:solidFill>
                  <a:srgbClr val="CB5E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and Conclusion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89308" y="9211866"/>
            <a:ext cx="2765740" cy="365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8"/>
              </a:lnSpc>
            </a:pPr>
            <a:r>
              <a:rPr lang="en-US" sz="212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19/20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0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66738" y="1028700"/>
            <a:ext cx="6675228" cy="6462370"/>
            <a:chOff x="0" y="0"/>
            <a:chExt cx="6496901" cy="62897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110" y="9742"/>
              <a:ext cx="6459397" cy="6273348"/>
            </a:xfrm>
            <a:custGeom>
              <a:avLst/>
              <a:gdLst/>
              <a:ahLst/>
              <a:cxnLst/>
              <a:rect r="r" b="b" t="t" l="l"/>
              <a:pathLst>
                <a:path h="6273348" w="6459397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105986" y="746344"/>
            <a:ext cx="6559091" cy="6349937"/>
            <a:chOff x="0" y="0"/>
            <a:chExt cx="6496901" cy="62897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110" y="9742"/>
              <a:ext cx="6459397" cy="6273348"/>
            </a:xfrm>
            <a:custGeom>
              <a:avLst/>
              <a:gdLst/>
              <a:ahLst/>
              <a:cxnLst/>
              <a:rect r="r" b="b" t="t" l="l"/>
              <a:pathLst>
                <a:path h="6273348" w="6459397">
                  <a:moveTo>
                    <a:pt x="4058269" y="159750"/>
                  </a:moveTo>
                  <a:cubicBezTo>
                    <a:pt x="5443192" y="346334"/>
                    <a:pt x="7085341" y="864781"/>
                    <a:pt x="6217511" y="3207762"/>
                  </a:cubicBezTo>
                  <a:cubicBezTo>
                    <a:pt x="5254406" y="5550744"/>
                    <a:pt x="3260352" y="5966641"/>
                    <a:pt x="2297247" y="6223016"/>
                  </a:cubicBezTo>
                  <a:cubicBezTo>
                    <a:pt x="1334143" y="6457788"/>
                    <a:pt x="202900" y="5869788"/>
                    <a:pt x="602596" y="4489637"/>
                  </a:cubicBezTo>
                  <a:cubicBezTo>
                    <a:pt x="952145" y="3281826"/>
                    <a:pt x="-82120" y="1763518"/>
                    <a:pt x="5264" y="769353"/>
                  </a:cubicBezTo>
                  <a:cubicBezTo>
                    <a:pt x="105557" y="-201512"/>
                    <a:pt x="2396065" y="-59272"/>
                    <a:pt x="4058269" y="159750"/>
                  </a:cubicBezTo>
                  <a:close/>
                </a:path>
              </a:pathLst>
            </a:custGeom>
            <a:blipFill>
              <a:blip r:embed="rId2"/>
              <a:stretch>
                <a:fillRect l="0" t="-1482" r="0" b="-148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66921" y="4684024"/>
            <a:ext cx="537073" cy="53707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665077" y="1178500"/>
            <a:ext cx="537073" cy="53707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5E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63098" y="4815072"/>
            <a:ext cx="7601043" cy="1485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09"/>
              </a:lnSpc>
            </a:pPr>
            <a:r>
              <a:rPr lang="en-US" b="true" sz="269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李恩心 (Nicole Lee En Xin)</a:t>
            </a:r>
          </a:p>
          <a:p>
            <a:pPr algn="l" marL="0" indent="0" lvl="0">
              <a:lnSpc>
                <a:spcPts val="4009"/>
              </a:lnSpc>
            </a:pPr>
            <a:r>
              <a:rPr lang="en-US" b="true" sz="269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Beijing Institute of Technology</a:t>
            </a:r>
          </a:p>
          <a:p>
            <a:pPr algn="l" marL="0" indent="0" lvl="0">
              <a:lnSpc>
                <a:spcPts val="4009"/>
              </a:lnSpc>
            </a:pPr>
            <a:r>
              <a:rPr lang="en-US" b="true" sz="2690">
                <a:solidFill>
                  <a:srgbClr val="FFFFFF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1820232039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3098" y="2152053"/>
            <a:ext cx="7897914" cy="1063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60"/>
              </a:lnSpc>
              <a:spcBef>
                <a:spcPct val="0"/>
              </a:spcBef>
            </a:pPr>
            <a:r>
              <a:rPr lang="en-US" b="true" sz="6956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Thank You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285056" y="9084784"/>
            <a:ext cx="2974244" cy="666790"/>
            <a:chOff x="0" y="0"/>
            <a:chExt cx="783340" cy="1756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3340" cy="175616"/>
            </a:xfrm>
            <a:custGeom>
              <a:avLst/>
              <a:gdLst/>
              <a:ahLst/>
              <a:cxnLst/>
              <a:rect r="r" b="b" t="t" l="l"/>
              <a:pathLst>
                <a:path h="175616" w="783340">
                  <a:moveTo>
                    <a:pt x="87808" y="0"/>
                  </a:moveTo>
                  <a:lnTo>
                    <a:pt x="695532" y="0"/>
                  </a:lnTo>
                  <a:cubicBezTo>
                    <a:pt x="718820" y="0"/>
                    <a:pt x="741154" y="9251"/>
                    <a:pt x="757622" y="25718"/>
                  </a:cubicBezTo>
                  <a:cubicBezTo>
                    <a:pt x="774089" y="42185"/>
                    <a:pt x="783340" y="64520"/>
                    <a:pt x="783340" y="87808"/>
                  </a:cubicBezTo>
                  <a:lnTo>
                    <a:pt x="783340" y="87808"/>
                  </a:lnTo>
                  <a:cubicBezTo>
                    <a:pt x="783340" y="136303"/>
                    <a:pt x="744027" y="175616"/>
                    <a:pt x="695532" y="175616"/>
                  </a:cubicBezTo>
                  <a:lnTo>
                    <a:pt x="87808" y="175616"/>
                  </a:lnTo>
                  <a:cubicBezTo>
                    <a:pt x="64520" y="175616"/>
                    <a:pt x="42185" y="166364"/>
                    <a:pt x="25718" y="149897"/>
                  </a:cubicBezTo>
                  <a:cubicBezTo>
                    <a:pt x="9251" y="133430"/>
                    <a:pt x="0" y="111096"/>
                    <a:pt x="0" y="87808"/>
                  </a:cubicBezTo>
                  <a:lnTo>
                    <a:pt x="0" y="87808"/>
                  </a:lnTo>
                  <a:cubicBezTo>
                    <a:pt x="0" y="64520"/>
                    <a:pt x="9251" y="42185"/>
                    <a:pt x="25718" y="25718"/>
                  </a:cubicBezTo>
                  <a:cubicBezTo>
                    <a:pt x="42185" y="9251"/>
                    <a:pt x="64520" y="0"/>
                    <a:pt x="87808" y="0"/>
                  </a:cubicBezTo>
                  <a:close/>
                </a:path>
              </a:pathLst>
            </a:custGeom>
            <a:solidFill>
              <a:srgbClr val="CB5E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783340" cy="251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74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389308" y="9211866"/>
            <a:ext cx="2765740" cy="365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8"/>
              </a:lnSpc>
            </a:pPr>
            <a:r>
              <a:rPr lang="en-US" sz="2127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DAHKMd72f1k</dc:identifier>
  <dcterms:modified xsi:type="dcterms:W3CDTF">2011-08-01T06:04:30Z</dcterms:modified>
  <cp:revision>1</cp:revision>
  <dc:title>1820232039 nicole lee en xin 86132301 项目报告</dc:title>
</cp:coreProperties>
</file>